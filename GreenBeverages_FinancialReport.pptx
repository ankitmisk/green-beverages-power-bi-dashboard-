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C5F2D"/>
                </a:solidFill>
                <a:latin typeface="Arial"/>
              </a:rPr>
              <a:t>Net Revenue by Year (₹ Crore)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(₹ Crore)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1CE-44C2-8939-63695764733A}"/>
              </c:ext>
            </c:extLst>
          </c:dPt>
          <c:dPt>
            <c:idx val="1"/>
            <c:invertIfNegative val="0"/>
            <c:bubble3D val="0"/>
            <c:spPr>
              <a:solidFill>
                <a:srgbClr val="4A7C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1CE-44C2-8939-63695764733A}"/>
              </c:ext>
            </c:extLst>
          </c:dPt>
          <c:dPt>
            <c:idx val="2"/>
            <c:invertIfNegative val="0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1CE-44C2-8939-63695764733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1719.88</c:v>
                </c:pt>
                <c:pt idx="1">
                  <c:v>1609.53</c:v>
                </c:pt>
                <c:pt idx="2">
                  <c:v>1675.43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1CE-44C2-8939-63695764733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C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C5F2D"/>
                </a:solidFill>
                <a:latin typeface="Arial"/>
              </a:rPr>
              <a:t>Top Products by Volume (h_tonnes)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(h_tonnes)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FB-4FCD-8B97-68DFB8A31150}"/>
              </c:ext>
            </c:extLst>
          </c:dPt>
          <c:dPt>
            <c:idx val="1"/>
            <c:invertIfNegative val="0"/>
            <c:bubble3D val="0"/>
            <c:spPr>
              <a:solidFill>
                <a:srgbClr val="4A7C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FB-4FCD-8B97-68DFB8A31150}"/>
              </c:ext>
            </c:extLst>
          </c:dPt>
          <c:dPt>
            <c:idx val="2"/>
            <c:invertIfNegative val="0"/>
            <c:bubble3D val="0"/>
            <c:spPr>
              <a:solidFill>
                <a:srgbClr val="5D8F6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FB-4FCD-8B97-68DFB8A31150}"/>
              </c:ext>
            </c:extLst>
          </c:dPt>
          <c:dPt>
            <c:idx val="3"/>
            <c:invertIfNegative val="0"/>
            <c:bubble3D val="0"/>
            <c:spPr>
              <a:solidFill>
                <a:srgbClr val="6BA0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CFB-4FCD-8B97-68DFB8A31150}"/>
              </c:ext>
            </c:extLst>
          </c:dPt>
          <c:dPt>
            <c:idx val="4"/>
            <c:invertIfNegative val="0"/>
            <c:bubble3D val="0"/>
            <c:spPr>
              <a:solidFill>
                <a:srgbClr val="7EB4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CFB-4FCD-8B97-68DFB8A31150}"/>
              </c:ext>
            </c:extLst>
          </c:dPt>
          <c:dPt>
            <c:idx val="5"/>
            <c:invertIfNegative val="0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CFB-4FCD-8B97-68DFB8A31150}"/>
              </c:ext>
            </c:extLst>
          </c:dPt>
          <c:dPt>
            <c:idx val="6"/>
            <c:invertIfNegative val="0"/>
            <c:bubble3D val="0"/>
            <c:spPr>
              <a:solidFill>
                <a:srgbClr val="A8C9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CFB-4FCD-8B97-68DFB8A31150}"/>
              </c:ext>
            </c:extLst>
          </c:dPt>
          <c:dPt>
            <c:idx val="7"/>
            <c:invertIfNegative val="0"/>
            <c:bubble3D val="0"/>
            <c:spPr>
              <a:solidFill>
                <a:srgbClr val="BDD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CFB-4FCD-8B97-68DFB8A3115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A1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Coffee Sachet</c:v>
                </c:pt>
                <c:pt idx="1">
                  <c:v>Glucose Powder</c:v>
                </c:pt>
                <c:pt idx="2">
                  <c:v>Mustard Sauce</c:v>
                </c:pt>
                <c:pt idx="3">
                  <c:v>Tomato Sauce</c:v>
                </c:pt>
                <c:pt idx="4">
                  <c:v>Dust Tea</c:v>
                </c:pt>
                <c:pt idx="5">
                  <c:v>Green Tea</c:v>
                </c:pt>
                <c:pt idx="6">
                  <c:v>Flavor Tea</c:v>
                </c:pt>
                <c:pt idx="7">
                  <c:v>Frozen Pie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110</c:v>
                </c:pt>
                <c:pt idx="1">
                  <c:v>53</c:v>
                </c:pt>
                <c:pt idx="2">
                  <c:v>41</c:v>
                </c:pt>
                <c:pt idx="3">
                  <c:v>41</c:v>
                </c:pt>
                <c:pt idx="4">
                  <c:v>26</c:v>
                </c:pt>
                <c:pt idx="5">
                  <c:v>24</c:v>
                </c:pt>
                <c:pt idx="6">
                  <c:v>18</c:v>
                </c:pt>
                <c:pt idx="7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CFB-4FCD-8B97-68DFB8A311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C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C5F2D"/>
                </a:solidFill>
                <a:latin typeface="Arial"/>
              </a:rPr>
              <a:t>Revenue by Customer Type (₹ Crore)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C5F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FE7-41E3-8383-291884157F5E}"/>
              </c:ext>
            </c:extLst>
          </c:dPt>
          <c:dPt>
            <c:idx val="1"/>
            <c:bubble3D val="0"/>
            <c:spPr>
              <a:solidFill>
                <a:srgbClr val="97BC6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FE7-41E3-8383-291884157F5E}"/>
              </c:ext>
            </c:extLst>
          </c:dPt>
          <c:dPt>
            <c:idx val="2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FE7-41E3-8383-291884157F5E}"/>
              </c:ext>
            </c:extLst>
          </c:dPt>
          <c:dPt>
            <c:idx val="3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FE7-41E3-8383-291884157F5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FE7-41E3-8383-291884157F5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FE7-41E3-8383-291884157F5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FE7-41E3-8383-291884157F5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FE7-41E3-8383-291884157F5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General</c:v>
                </c:pt>
                <c:pt idx="1">
                  <c:v>Online</c:v>
                </c:pt>
                <c:pt idx="2">
                  <c:v>Institutional</c:v>
                </c:pt>
                <c:pt idx="3">
                  <c:v>Retail Chain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38.020000000000003</c:v>
                </c:pt>
                <c:pt idx="1">
                  <c:v>16.89</c:v>
                </c:pt>
                <c:pt idx="2">
                  <c:v>13</c:v>
                </c:pt>
                <c:pt idx="3">
                  <c:v>12.76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FE7-41E3-8383-291884157F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1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7F9F4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5F2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C5F2D"/>
                </a:solidFill>
                <a:latin typeface="Arial"/>
              </a:rPr>
              <a:t>Estimated Quarterly Revenue Trend by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2018 Net Revenue (₹ Cr)</c:v>
                </c:pt>
              </c:strCache>
            </c:strRef>
          </c:tx>
          <c:spPr>
            <a:ln w="38100" cap="flat">
              <a:solidFill>
                <a:srgbClr val="2C5F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410</c:v>
                </c:pt>
                <c:pt idx="1">
                  <c:v>430</c:v>
                </c:pt>
                <c:pt idx="2">
                  <c:v>440</c:v>
                </c:pt>
                <c:pt idx="3">
                  <c:v>440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F01-4F66-9C4D-3ADE1671B4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2019 Net Revenue (₹ Cr)</c:v>
                </c:pt>
              </c:strCache>
            </c:strRef>
          </c:tx>
          <c:spPr>
            <a:ln w="38100" cap="flat">
              <a:solidFill>
                <a:srgbClr val="C9A84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9A84C"/>
              </a:solidFill>
              <a:ln w="9525" cap="flat">
                <a:solidFill>
                  <a:srgbClr val="C9A84C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385</c:v>
                </c:pt>
                <c:pt idx="1">
                  <c:v>400</c:v>
                </c:pt>
                <c:pt idx="2">
                  <c:v>415</c:v>
                </c:pt>
                <c:pt idx="3">
                  <c:v>410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F01-4F66-9C4D-3ADE1671B45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2020 Net Revenue (₹ Cr)</c:v>
                </c:pt>
              </c:strCache>
            </c:strRef>
          </c:tx>
          <c:spPr>
            <a:ln w="38100" cap="flat">
              <a:solidFill>
                <a:srgbClr val="97BC6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7BC62"/>
              </a:solidFill>
              <a:ln w="9525" cap="flat">
                <a:solidFill>
                  <a:srgbClr val="97BC6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395</c:v>
                </c:pt>
                <c:pt idx="1">
                  <c:v>415</c:v>
                </c:pt>
                <c:pt idx="2">
                  <c:v>430</c:v>
                </c:pt>
                <c:pt idx="3">
                  <c:v>435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F01-4F66-9C4D-3ADE1671B4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C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8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7C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E2A1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5697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6400800" cy="6400800"/>
          </a:xfrm>
          <a:prstGeom prst="ellipse">
            <a:avLst/>
          </a:prstGeom>
          <a:solidFill>
            <a:srgbClr val="2C5F2D">
              <a:alpha val="50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4A7C59">
              <a:alpha val="40000"/>
            </a:srgbClr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BEVERAGES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7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PurpleME India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Report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Performance Overview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7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2020  |  Comprehensive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078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$15,523 MM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3-Year Revenue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41448" y="10058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14600" y="1078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🧾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32888" y="1600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81.43K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32888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Bills Generated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32888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08576" y="10058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81728" y="1078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0016" y="1600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700016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0016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 Base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75704" y="1005840"/>
            <a:ext cx="1965960" cy="228600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8F0E8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48856" y="107899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867144" y="16002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yrs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67144" y="22860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Salesman Experience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7144" y="2651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22.74 yrs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520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4206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Sourcing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41448" y="3520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532888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532888" y="4206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Category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08576" y="3520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0016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78.55%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700016" y="4206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NR 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75704" y="352044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67144" y="361188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67144" y="42062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Year-over-Year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960120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0F7F0"/>
          </a:solidFill>
          <a:ln w="12700">
            <a:solidFill>
              <a:srgbClr val="C5D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06440" y="10332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92240" y="103327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₹1,719.88 Cr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6440" y="14630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Year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669280" y="2039112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DF2F0"/>
          </a:solidFill>
          <a:ln w="12700">
            <a:solidFill>
              <a:srgbClr val="F0C8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211226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2019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0" y="211226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₹1,609.53 Cr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806440" y="2542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-6.86% vs PY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0" y="3118104"/>
            <a:ext cx="3108960" cy="914400"/>
          </a:xfrm>
          <a:prstGeom prst="roundRect">
            <a:avLst>
              <a:gd name="adj" fmla="val 10000"/>
            </a:avLst>
          </a:prstGeom>
          <a:solidFill>
            <a:srgbClr val="F0F7F0"/>
          </a:solidFill>
          <a:ln w="12700">
            <a:solidFill>
              <a:srgbClr val="C5DF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806440" y="31912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92240" y="319125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₹1,675.43 Cr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806440" y="36210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+3.93% vs PY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0" y="4114800"/>
            <a:ext cx="3108960" cy="777240"/>
          </a:xfrm>
          <a:prstGeom prst="roundRect">
            <a:avLst>
              <a:gd name="adj" fmla="val 1176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806440" y="42062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Total: ₹5,004.84 Crore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960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Product Insights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897880" y="141732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989320" y="147218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 Coffee Sachet 10gms dominates at 110 h_tonnes (highest volume)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897880" y="205740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89320" y="211226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Glucose Powder ranks 2nd at 53 h_tonnes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97880" y="269748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989320" y="275234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Mustard Sauce &amp; Tomato Sauce tied at 41 h_tonnes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333756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989320" y="339242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🍵  Green Tea products form a key sub-category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97880" y="3977640"/>
            <a:ext cx="29718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989320" y="4032504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 Supplements identified as First Category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60120"/>
          <a:ext cx="4389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Breakdown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0" y="1508760"/>
            <a:ext cx="3749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166360" y="1709928"/>
            <a:ext cx="274320" cy="2743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532120" y="157276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0" y="157276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₹38.02 Cr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532120" y="19110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46.69%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0" y="2359152"/>
            <a:ext cx="3749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166360" y="2560320"/>
            <a:ext cx="274320" cy="27432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532120" y="2423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0" y="24231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₹16.89 Cr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32120" y="27614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20.74%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029200" y="3209544"/>
            <a:ext cx="3749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166360" y="3410712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32120" y="32735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315200" y="3273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 Cr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532120" y="3611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~16%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029200" y="4059936"/>
            <a:ext cx="3749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0EBE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166360" y="4261104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532120" y="4123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Chain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0" y="412394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₹12.76 Cr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532120" y="446227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share: 15.67%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Sourcing, Pricing &amp; Supply Chain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Overview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179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Sourcing Country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88920" y="16642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supplier for key ingredients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4323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Needed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24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40.00M kg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88920" y="25786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in kg | 400.01 h_tonnes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346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Category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Supplements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34930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 category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02336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2611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45537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88920" y="440740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trade discount applied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Metrics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846320" y="146304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83480" y="1517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NR (Net Revenue)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8348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₹15.5 Bn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846320" y="237744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432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G2N per kg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8348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846320" y="329184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83480" y="3346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PY NR 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78.55%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846320" y="4206240"/>
            <a:ext cx="3931920" cy="749808"/>
          </a:xfrm>
          <a:prstGeom prst="roundRect">
            <a:avLst>
              <a:gd name="adj" fmla="val 12195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83480" y="42611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 Share 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4572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100.00%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Quarterly &amp; Trend Analysis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96012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005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YTD Performance Summary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508760"/>
            <a:ext cx="2880360" cy="530352"/>
          </a:xfrm>
          <a:prstGeom prst="rect">
            <a:avLst/>
          </a:prstGeom>
          <a:solidFill>
            <a:srgbClr val="2C5F2D"/>
          </a:solidFill>
          <a:ln w="1270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YTD Revenue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95528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PY 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989320" y="2084832"/>
            <a:ext cx="2880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6995160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₹1,719.88 Cr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955280" y="21762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100.00%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989320" y="2660904"/>
            <a:ext cx="2880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035040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95160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₹1,609.53 Cr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955280" y="275234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-6.86%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989320" y="3236976"/>
            <a:ext cx="2880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3504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99516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₹1,675.43 Cr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955280" y="332841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+3.93%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989320" y="3813048"/>
            <a:ext cx="2880360" cy="530352"/>
          </a:xfrm>
          <a:prstGeom prst="rect">
            <a:avLst/>
          </a:prstGeom>
          <a:solidFill>
            <a:srgbClr val="E8F4E8"/>
          </a:solidFill>
          <a:ln w="12700">
            <a:solidFill>
              <a:srgbClr val="DDE8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03504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Total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99516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₹5,004.84 Cr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955280" y="390448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+33.48%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989320" y="4526280"/>
            <a:ext cx="2880360" cy="411480"/>
          </a:xfrm>
          <a:prstGeom prst="roundRect">
            <a:avLst>
              <a:gd name="adj" fmla="val 17778"/>
            </a:avLst>
          </a:prstGeom>
          <a:solidFill>
            <a:srgbClr val="EAF4EA"/>
          </a:solidFill>
          <a:ln w="12700">
            <a:solidFill>
              <a:srgbClr val="B8D4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080760" y="45902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2020 recovery after 2019 dip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C5F2D">
              <a:alpha val="40000"/>
            </a:srgbClr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Financial Report Analysis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Diversify Sourcing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dependency on Canada as single major source; explore India-local and ASEAN suppliers to cut costs.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 Online Channel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contributes only 20.74% of revenue. Invest in D2C &amp; e-commerce to capture growing digital demand.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46304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63640" y="15544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Revenue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saw a -6.86% decline. Identify root causes (pricing, competition, supply) and sustain 2020's recovery.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546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 High-Volume Products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Sachet &amp; Glucose Powder lead volume. Focus marketing spend on these to drive further revenue growth.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31546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8328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38328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 Institutional Segment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&amp; Retail Chain segments are underrepresented. Targeted B2B outreach can unlock new revenue.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15468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4A7C59">
              <a:alpha val="70000"/>
            </a:srgbClr>
          </a:solidFill>
          <a:ln w="12700">
            <a:solidFill>
              <a:srgbClr val="97BC6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6364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G2N Ratio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D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G2N of 15.4 per kg combined with 5% discounting should be reviewed to improve net margin on key SKUs.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💡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097280" y="1170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Recovery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-6.86% dip in 2019, Green Beverages bounced back +3.93% in 2020, demonstrating operational resilience.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00600" y="11430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394960" y="1170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Strength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trade is the dominant channel at 46.69%. Coffee Sachet 10gms leads product volume at 110 h_tonnes.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7033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Canada-heavy supply chain presents risk. Diversification is a strategic priority for cost and resilience.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31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DE8DD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00600" y="31546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394960" y="31821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70332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5% discounting and G2N ratio of 15.4, margins can be improved through pricing strategy optimization.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Beverages PurpleME India  •  Financial Report 2018–2020  •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612</Words>
  <Application>Microsoft Office PowerPoint</Application>
  <PresentationFormat>On-screen Show (16:9)</PresentationFormat>
  <Paragraphs>154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Beverages PurpleME India - Financial Report</dc:title>
  <dc:subject>PptxGenJS Presentation</dc:subject>
  <dc:creator>PptxGenJS</dc:creator>
  <cp:lastModifiedBy>SANJAY KUMAR</cp:lastModifiedBy>
  <cp:revision>1</cp:revision>
  <dcterms:created xsi:type="dcterms:W3CDTF">2026-06-19T13:21:56Z</dcterms:created>
  <dcterms:modified xsi:type="dcterms:W3CDTF">2026-07-10T02:37:35Z</dcterms:modified>
</cp:coreProperties>
</file>